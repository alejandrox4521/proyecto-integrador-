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hzacwos7up6u/mnt/agents/output/distribuciones_probabilidad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0"/>
                </a:srgbClr>
              </a:gs>
              <a:gs pos="40000">
                <a:srgbClr val="2D3436">
                  <a:alpha val="63000"/>
                </a:srgbClr>
              </a:gs>
              <a:gs pos="100000">
                <a:srgbClr val="2D3436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3048000"/>
            <a:ext cx="1473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DISTRIBUCIONES DE PROBABILIDAD DISCRETAS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223000" y="4064000"/>
            <a:ext cx="3810000" cy="0"/>
          </a:xfrm>
          <a:prstGeom prst="straightConnector1">
            <a:avLst/>
          </a:prstGeom>
          <a:noFill/>
          <a:ln w="254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3048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 de Distribuciones Adicionales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18000" y="5334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ALEJANDRO RECALDE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98500"/>
            <a:ext cx="762000" cy="0"/>
          </a:xfrm>
          <a:prstGeom prst="straightConnector1">
            <a:avLst/>
          </a:prstGeom>
          <a:noFill/>
          <a:ln w="508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889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6000" y="1968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41500" y="19685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Distribución Bernoulli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16000" y="2603500"/>
            <a:ext cx="6350000" cy="0"/>
          </a:xfrm>
          <a:prstGeom prst="straightConnector1">
            <a:avLst/>
          </a:prstGeom>
          <a:noFill/>
          <a:ln w="12700">
            <a:solidFill>
              <a:srgbClr val="636E72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016000" y="285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28575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Distribución Geométrica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16000" y="3492500"/>
            <a:ext cx="6350000" cy="0"/>
          </a:xfrm>
          <a:prstGeom prst="straightConnector1">
            <a:avLst/>
          </a:prstGeom>
          <a:noFill/>
          <a:ln w="12700">
            <a:solidFill>
              <a:srgbClr val="636E72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16000" y="374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41500" y="37465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Distribución Hipergeométrica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6000" y="4381500"/>
            <a:ext cx="6350000" cy="0"/>
          </a:xfrm>
          <a:prstGeom prst="straightConnector1">
            <a:avLst/>
          </a:prstGeom>
          <a:noFill/>
          <a:ln w="12700">
            <a:solidFill>
              <a:srgbClr val="636E72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8636000" y="1968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61500" y="19685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Distribución Multinomial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36000" y="2603500"/>
            <a:ext cx="6350000" cy="0"/>
          </a:xfrm>
          <a:prstGeom prst="straightConnector1">
            <a:avLst/>
          </a:prstGeom>
          <a:noFill/>
          <a:ln w="12700">
            <a:solidFill>
              <a:srgbClr val="636E72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636000" y="285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61500" y="28575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Ejercicios Binomiales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36000" y="3492500"/>
            <a:ext cx="6350000" cy="0"/>
          </a:xfrm>
          <a:prstGeom prst="straightConnector1">
            <a:avLst/>
          </a:prstGeom>
          <a:noFill/>
          <a:ln w="12700">
            <a:solidFill>
              <a:srgbClr val="636E72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636000" y="374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1500" y="3746500"/>
            <a:ext cx="546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Ejercicios Poisson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36000" y="4381500"/>
            <a:ext cx="6350000" cy="0"/>
          </a:xfrm>
          <a:prstGeom prst="straightConnector1">
            <a:avLst/>
          </a:prstGeom>
          <a:noFill/>
          <a:ln w="12700">
            <a:solidFill>
              <a:srgbClr val="636E72">
                <a:alpha val="18824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0"/>
          </a:xfrm>
          <a:prstGeom prst="straightConnector1">
            <a:avLst/>
          </a:prstGeom>
          <a:noFill/>
          <a:ln w="508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DISTRIBUCIÓN BERNOULLI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18415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Modela un experimento con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dos resultados posibles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éxito (1) o fracaso (0). Es la base de muchas otras distribuciones discretas.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Fórmula: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i="1" dirty="0"/>
                            <m:t>p</m:t>
                          </m:r>
                        </m:e>
                        <m:sup>
                          <m:r>
                            <a:rPr lang="en-US" sz="1300" i="1" dirty="0"/>
                            <m:t>x</m:t>
                          </m:r>
                        </m:sup>
                      </m:sSup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i="1" dirty="0"/>
                        <m:t>p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)</m:t>
                          </m:r>
                        </m:e>
                        <m:sup>
                          <m:r>
                            <a:rPr lang="en-US" sz="1300" dirty="0"/>
                            <m:t>1</m:t>
                          </m:r>
                          <m:r>
                            <a:rPr lang="en-US" sz="1300" dirty="0"/>
                            <m:t>−</m:t>
                          </m:r>
                          <m:r>
                            <a:rPr lang="en-US" sz="1300" i="1" dirty="0"/>
                            <m:t>x</m:t>
                          </m:r>
                        </m:sup>
                      </m:sSup>
                    </m:oMath>
                  </m:oMathPara>
                </a14:m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  donde 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∈</m:t>
                      </m:r>
                      <m:r>
                        <a:rPr lang="en-US" sz="1800" dirty="0"/>
                        <m:t>{</m:t>
                      </m:r>
                      <m:r>
                        <a:rPr lang="en-US" sz="1800" dirty="0"/>
                        <m:t>0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}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18415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Modela un experimento con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dos resultados posibles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éxito (1) o fracaso (0). Es la base de muchas otras distribuciones discretas.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Fórmula: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P(X=x) = p^x (1-p)^{1-x} )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  donde 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\in \{0, 1\}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EJEMPLOS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68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93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387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Lanzar una moneda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Obtener cara (éxito, p=0.5) o cruz (fracaso, p=0.5). Variable X indica si salió cara.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368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393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07500" y="387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Aprobar o reprobar un examen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 estudiante aprueba (éxito) con probabilidad p, o reprueba (fracaso) con probabilidad 1-p.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22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647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47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41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Artículo defectuoso en producción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 artículo producido es defectuoso (éxito) con probabilidad p, o es conforme (fracaso).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18500" y="622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647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647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7500" y="641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Pregunta de verdadero/falso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Responder correctamente (éxito) o incorrectamente (fracaso) a una pregunta con dos opciones.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/ 10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0"/>
          </a:xfrm>
          <a:prstGeom prst="straightConnector1">
            <a:avLst/>
          </a:prstGeom>
          <a:noFill/>
          <a:ln w="508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DISTRIBUCIÓN GEOMÉTRICA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18415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Cuenta el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número de ensayos independientes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necesarios hasta obtener el primer éxito en pruebas de Bernoulli.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Fórmula: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k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i="1" dirty="0"/>
                        <m:t>p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)</m:t>
                          </m:r>
                        </m:e>
                        <m:sup>
                          <m:r>
                            <a:rPr lang="en-US" sz="1300" i="1" dirty="0"/>
                            <m:t>k</m:t>
                          </m:r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1</m:t>
                          </m:r>
                        </m:sup>
                      </m:sSup>
                      <m:r>
                        <a:rPr lang="en-US" sz="1800" dirty="0"/>
                        <m:t>⋅</m:t>
                      </m:r>
                      <m:r>
                        <a:rPr lang="en-US" sz="1800" i="1" dirty="0"/>
                        <m:t>p</m:t>
                      </m:r>
                    </m:oMath>
                  </m:oMathPara>
                </a14:m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  donde 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k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3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…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18415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Cuenta el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número de ensayos independientes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necesarios hasta obtener el primer éxito en pruebas de Bernoulli.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Fórmula: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P(X=k) = (1-p)^{k-1} \cdot p )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  donde 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k = 1, 2, 3, \ldots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EJEMPLOS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68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93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387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Lanzar un dado hasta obtener el primer 6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¿Cuántos lanzamientos se necesitan hasta que salga 6 por primera vez? p = 1/6.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368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393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07500" y="387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Llamadas hasta la primera venta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Número de llamadas telefónicas necesarias hasta realizar la primera venta exitosa.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22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647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47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41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Primer artículo defectuoso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Número de intentos hasta que una máquina produzca su primer artículo defectuoso en línea de producción.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18500" y="622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647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647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7500" y="641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Clientes hasta pago con tarjeta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Número de clientes atendidos hasta encontrar el primero que pague con tarjeta de crédito.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10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0"/>
          </a:xfrm>
          <a:prstGeom prst="straightConnector1">
            <a:avLst/>
          </a:prstGeom>
          <a:noFill/>
          <a:ln w="508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DISTRIBUCIÓN HIPERGEOMÉTRICA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18415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Modela extracciones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sin reemplazo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de una población finita dividida en dos grupos. Las probabilidades cambian en cada extracción.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Fórmula: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k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(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900" i="1" dirty="0"/>
                                <m:t>K</m:t>
                              </m:r>
                            </m:num>
                            <m:den>
                              <m:r>
                                <a:rPr lang="en-US" sz="900" i="1" dirty="0"/>
                                <m:t>k</m:t>
                              </m:r>
                            </m:den>
                          </m:f>
                          <m:r>
                            <a:rPr lang="en-US" sz="1300" dirty="0"/>
                            <m:t>)</m:t>
                          </m:r>
                          <m:r>
                            <a:rPr lang="en-US" sz="1300" dirty="0"/>
                            <m:t>(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900" i="1" dirty="0"/>
                                <m:t>N</m:t>
                              </m:r>
                              <m:r>
                                <a:rPr lang="en-US" sz="900" dirty="0"/>
                                <m:t>−</m:t>
                              </m:r>
                              <m:r>
                                <a:rPr lang="en-US" sz="900" i="1" dirty="0"/>
                                <m:t>K</m:t>
                              </m:r>
                            </m:num>
                            <m:den>
                              <m:r>
                                <a:rPr lang="en-US" sz="900" i="1" dirty="0"/>
                                <m:t>n</m:t>
                              </m:r>
                              <m:r>
                                <a:rPr lang="en-US" sz="900" dirty="0"/>
                                <m:t>−</m:t>
                              </m:r>
                              <m:r>
                                <a:rPr lang="en-US" sz="900" i="1" dirty="0"/>
                                <m:t>k</m:t>
                              </m:r>
                            </m:den>
                          </m:f>
                          <m:r>
                            <a:rPr lang="en-US" sz="1300" dirty="0"/>
                            <m:t>)</m:t>
                          </m:r>
                        </m:num>
                        <m:den>
                          <m:r>
                            <a:rPr lang="en-US" sz="1300" dirty="0"/>
                            <m:t>(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900" i="1" dirty="0"/>
                                <m:t>N</m:t>
                              </m:r>
                            </m:num>
                            <m:den>
                              <m:r>
                                <a:rPr lang="en-US" sz="900" i="1" dirty="0"/>
                                <m:t>n</m:t>
                              </m:r>
                            </m:den>
                          </m:f>
                          <m:r>
                            <a:rPr lang="en-US" sz="1300" dirty="0"/>
                            <m:t>)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18415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Modela extracciones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sin reemplazo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de una población finita dividida en dos grupos. Las probabilidades cambian en cada extracción.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Fórmula: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P(X=k) = \frac{\binom{K}{k} \binom{N-K}{n-k}}{\binom{N}{n}}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EJEMPLOS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68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93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387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Extraer cartas de una baraja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Extraer 5 cartas de una baraja de 52 y contar cuántas son de corazones. N=52, K=13, n=5.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368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393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07500" y="387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Selección de alumnos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Seleccionar 10 alumnos de un grupo de 30 (18 mujeres, 12 hombres) y contar cuántas mujeres resultan.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22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647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47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41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 de calidad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Elegir 4 repuestos de un lote de 50 (5 defectuosos) y contar cuántos son defectuosos.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18500" y="622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647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647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7500" y="641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Comité de fumadores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Seleccionar 3 personas de un comité de 20 (8 fumadores) y contar cuántos fuman.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10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0"/>
          </a:xfrm>
          <a:prstGeom prst="straightConnector1">
            <a:avLst/>
          </a:prstGeom>
          <a:noFill/>
          <a:ln w="508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DISTRIBUCIÓN MULTINOMIAL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18415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Generaliza la binomial cuando cada ensayo tiene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más de dos resultados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posibles. Extiende el modelo a múltiples categorías excluyentes.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Fórmula: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X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x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…</m:t>
                      </m:r>
                      <m:r>
                        <a:rPr lang="en-US" sz="1800" dirty="0"/>
                        <m:t>,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X</m:t>
                          </m:r>
                        </m:e>
                        <m:sub>
                          <m:r>
                            <a:rPr lang="en-US" sz="1300" i="1" dirty="0"/>
                            <m:t>k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x</m:t>
                          </m:r>
                        </m:e>
                        <m:sub>
                          <m:r>
                            <a:rPr lang="en-US" sz="1300" i="1" dirty="0"/>
                            <m:t>k</m:t>
                          </m:r>
                        </m:sub>
                      </m:sSub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i="1" dirty="0"/>
                            <m:t>n</m:t>
                          </m:r>
                          <m:r>
                            <a:rPr lang="en-US" sz="1300" dirty="0"/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sz="900" dirty="0"/>
                              </m:ctrlPr>
                            </m:sSubPr>
                            <m:e>
                              <m:r>
                                <a:rPr lang="en-US" sz="900" i="1" dirty="0"/>
                                <m:t>x</m:t>
                              </m:r>
                            </m:e>
                            <m:sub>
                              <m:r>
                                <a:rPr lang="en-US" sz="900" dirty="0"/>
                                <m:t>1</m:t>
                              </m:r>
                            </m:sub>
                          </m:sSub>
                          <m:r>
                            <a:rPr lang="en-US" sz="1300" dirty="0"/>
                            <m:t>!</m:t>
                          </m:r>
                          <m:r>
                            <a:rPr lang="en-US" sz="1300" dirty="0"/>
                            <m:t>⋯</m:t>
                          </m:r>
                          <m:sSub>
                            <m:sSubPr>
                              <m:ctrlPr>
                                <a:rPr lang="en-US" sz="900" dirty="0"/>
                              </m:ctrlPr>
                            </m:sSubPr>
                            <m:e>
                              <m:r>
                                <a:rPr lang="en-US" sz="900" i="1" dirty="0"/>
                                <m:t>x</m:t>
                              </m:r>
                            </m:e>
                            <m:sub>
                              <m:r>
                                <a:rPr lang="en-US" sz="900" i="1" dirty="0"/>
                                <m:t>k</m:t>
                              </m:r>
                            </m:sub>
                          </m:sSub>
                          <m:r>
                            <a:rPr lang="en-US" sz="1300" dirty="0"/>
                            <m:t>!</m:t>
                          </m:r>
                        </m:den>
                      </m:f>
                      <m:r>
                        <a:rPr lang="en-US" sz="1800" dirty="0"/>
                        <m:t>⋅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i="1" dirty="0"/>
                            <m:t>p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sz="900" dirty="0"/>
                              </m:ctrlPr>
                            </m:sSubPr>
                            <m:e>
                              <m:r>
                                <a:rPr lang="en-US" sz="900" i="1" dirty="0"/>
                                <m:t>x</m:t>
                              </m:r>
                            </m:e>
                            <m:sub>
                              <m:r>
                                <a:rPr lang="en-US" sz="900" dirty="0"/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US" sz="1800" dirty="0"/>
                        <m:t>⋯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i="1" dirty="0"/>
                            <m:t>p</m:t>
                          </m:r>
                        </m:e>
                        <m:sub>
                          <m:r>
                            <a:rPr lang="en-US" sz="1300" i="1" dirty="0"/>
                            <m:t>k</m:t>
                          </m:r>
                        </m:sub>
                        <m:sup>
                          <m:sSub>
                            <m:sSubPr>
                              <m:ctrlPr>
                                <a:rPr lang="en-US" sz="900" dirty="0"/>
                              </m:ctrlPr>
                            </m:sSubPr>
                            <m:e>
                              <m:r>
                                <a:rPr lang="en-US" sz="900" i="1" dirty="0"/>
                                <m:t>x</m:t>
                              </m:r>
                            </m:e>
                            <m:sub>
                              <m:r>
                                <a:rPr lang="en-US" sz="900" i="1" dirty="0"/>
                                <m:t>k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1841500"/>
                <a:ext cx="1473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Generaliza la binomial cuando cada ensayo tiene </a:t>
                </a:r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más de dos resultados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posibles. Extiende el modelo a múltiples categorías excluyentes.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Fórmula: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P(X_1=x_1, \ldots, X_k=x_k) = \frac{n!}{x_1! \cdots x_k!} \cdot p_1^{x_1} \cdots p_k^{x_k}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EJEMPLOS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68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93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51000" y="387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Lanzar un dado 10 veces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Contar las frecuencias de cada cara (1 al 6). Cada cara es una categoría con probabilidad 1/6.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18500" y="368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393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07500" y="387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Clasificación de artículos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Clasificar 100 artículos en tres categorías: defectuosos, aceptables y excelentes.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22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647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647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41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Encuesta electoral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200 personas eligen entre 4 candidatos políticos. Se cuentan los votos para cada candidato.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18500" y="62230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64770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647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7500" y="6413500"/>
            <a:ext cx="603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Examen de opción múltiple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 estudiante responde 20 preguntas con 5 alternativas cada una, adivinando al azar.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/ 10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0"/>
          </a:xfrm>
          <a:prstGeom prst="straightConnector1">
            <a:avLst/>
          </a:prstGeom>
          <a:noFill/>
          <a:ln w="508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EJERCICIOS: DISTRIBUCIÓN BINOMIAL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95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Parte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3302000"/>
          </a:xfrm>
          <a:prstGeom prst="roundRect">
            <a:avLst>
              <a:gd name="adj" fmla="val 6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9685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6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651000" y="1905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Una moneda justa se lanza 8 veces. ¿Cuál es la probabilidad de obtener exactamente 5 caras?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Identificamos: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n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8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0.5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k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5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∼</m:t>
                      </m:r>
                      <m:r>
                        <a:rPr lang="en-US" sz="1800" i="1" dirty="0"/>
                        <m:t>B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n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8</m:t>
                      </m:r>
                      <m:r>
                        <a:rPr lang="en-US" sz="1800" dirty="0"/>
                        <m:t>,</m:t>
                      </m:r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0.5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5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8</m:t>
                          </m:r>
                        </m:num>
                        <m:den>
                          <m:r>
                            <a:rPr lang="en-US" sz="1300" dirty="0"/>
                            <m:t>5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0.5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)</m:t>
                          </m:r>
                        </m:e>
                        <m:sup>
                          <m:r>
                            <a:rPr lang="en-US" sz="1300" dirty="0"/>
                            <m:t>5</m:t>
                          </m:r>
                        </m:sup>
                      </m:sSup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0.5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)</m:t>
                          </m:r>
                        </m:e>
                        <m:sup>
                          <m:r>
                            <a:rPr lang="en-US" sz="1300" dirty="0"/>
                            <m:t>3</m:t>
                          </m:r>
                        </m:sup>
                      </m:sSup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56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0.03125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0.125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0.21875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21.88%</a:t>
                </a:r>
                <a:endParaRPr lang="en-US" sz="1800" dirty="0"/>
              </a:p>
            </p:txBody>
          </p:sp>
        </mc:Choice>
        <mc:Fallback xmlns="">
          <p:sp>
            <p:nvSpPr>
              <p:cNvPr id="8" name="Text 6"/>
              <p:cNvSpPr/>
              <p:nvPr/>
            </p:nvSpPr>
            <p:spPr>
              <a:xfrm>
                <a:off x="1651000" y="1905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Una moneda justa se lanza 8 veces. ¿Cuál es la probabilidad de obtener exactamente 5 caras?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Identificamos: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= 8 )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 = 0.5 )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k = 5 )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\sim B(n=8, p=0.5) 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P(X=5) = \binom{8}{5} \cdot (0.5)^5 \cdot (0.5)^3 = 56 \cdot 0.03125 \cdot 0.125 = 0.21875 )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21.88%</a:t>
                </a:r>
                <a:endParaRPr lang="en-US" sz="1800" dirty="0"/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762000" y="5334000"/>
            <a:ext cx="14732000" cy="3302000"/>
          </a:xfrm>
          <a:prstGeom prst="roundRect">
            <a:avLst>
              <a:gd name="adj" fmla="val 6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55245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552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1651000" y="5461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En una fábrica, el 10% de los artículos son defectuosos. Si se seleccionan 15 artículos al azar, ¿cuál es la probabilidad de que exactamente 2 sean defectuosos?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Identificamos: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n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15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0.1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k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2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∼</m:t>
                      </m:r>
                      <m:r>
                        <a:rPr lang="en-US" sz="1800" i="1" dirty="0"/>
                        <m:t>B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n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15</m:t>
                      </m:r>
                      <m:r>
                        <a:rPr lang="en-US" sz="1800" dirty="0"/>
                        <m:t>,</m:t>
                      </m:r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0.1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15</m:t>
                          </m:r>
                        </m:num>
                        <m:den>
                          <m:r>
                            <a:rPr lang="en-US" sz="1300" dirty="0"/>
                            <m:t>2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0.1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)</m:t>
                          </m:r>
                        </m:e>
                        <m:sup>
                          <m:r>
                            <a:rPr lang="en-US" sz="1300" dirty="0"/>
                            <m:t>2</m:t>
                          </m:r>
                        </m:sup>
                      </m:sSup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0.9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)</m:t>
                          </m:r>
                        </m:e>
                        <m:sup>
                          <m:r>
                            <a:rPr lang="en-US" sz="1300" dirty="0"/>
                            <m:t>13</m:t>
                          </m:r>
                        </m:sup>
                      </m:sSup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105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0.01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0.2542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0.2669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26.69%</a:t>
                </a:r>
                <a:endParaRPr lang="en-US" sz="18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1651000" y="5461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En una fábrica, el 10% de los artículos son defectuosos. Si se seleccionan 15 artículos al azar, ¿cuál es la probabilidad de que exactamente 2 sean defectuosos?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Identificamos: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= 15 )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 = 0.1 )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k = 2 )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\sim B(n=15, p=0.1) 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P(X=2) = \binom{15}{2} \cdot (0.1)^2 \cdot (0.9)^{13} = 105 \cdot 0.01 \cdot 0.2542 = 0.2669 )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26.69%</a:t>
                </a:r>
                <a:endParaRPr lang="en-US" sz="1800" dirty="0"/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10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0"/>
          </a:xfrm>
          <a:prstGeom prst="straightConnector1">
            <a:avLst/>
          </a:prstGeom>
          <a:noFill/>
          <a:ln w="508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EJERCICIOS: DISTRIBUCIÓN BINOMIAL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95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Parte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3302000"/>
          </a:xfrm>
          <a:prstGeom prst="roundRect">
            <a:avLst>
              <a:gd name="adj" fmla="val 6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9685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6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651000" y="1905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Un examen de opción múltiple tiene 12 preguntas con 4 alternativas cada una. Si un estudiante responde al azar, ¿cuál es la probabilidad de aprobar (al menos 6 correctas)?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n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12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0.25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∼</m:t>
                      </m:r>
                      <m:r>
                        <a:rPr lang="en-US" sz="1800" i="1" dirty="0"/>
                        <m:t>B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n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12</m:t>
                      </m:r>
                      <m:r>
                        <a:rPr lang="en-US" sz="1800" dirty="0"/>
                        <m:t>,</m:t>
                      </m:r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0.25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≥</m:t>
                      </m:r>
                      <m:r>
                        <a:rPr lang="en-US" sz="1800" dirty="0"/>
                        <m:t>6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≤</m:t>
                      </m:r>
                      <m:r>
                        <a:rPr lang="en-US" sz="1800" dirty="0"/>
                        <m:t>5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dirty="0"/>
                        <m:t>0.9456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0.0544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de aprobar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5.44%</a:t>
                </a:r>
                <a:endParaRPr lang="en-US" sz="1800" dirty="0"/>
              </a:p>
            </p:txBody>
          </p:sp>
        </mc:Choice>
        <mc:Fallback xmlns="">
          <p:sp>
            <p:nvSpPr>
              <p:cNvPr id="8" name="Text 6"/>
              <p:cNvSpPr/>
              <p:nvPr/>
            </p:nvSpPr>
            <p:spPr>
              <a:xfrm>
                <a:off x="1651000" y="1905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Un examen de opción múltiple tiene 12 preguntas con 4 alternativas cada una. Si un estudiante responde al azar, ¿cuál es la probabilidad de aprobar (al menos 6 correctas)?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= 12 )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 = 0.25 )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\sim B(n=12, p=0.25) 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 \geq 6) = 1 - P(X \leq 5) = 1 - 0.9456 = 0.0544 )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de aprobar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5.44%</a:t>
                </a:r>
                <a:endParaRPr lang="en-US" sz="1800" dirty="0"/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762000" y="5334000"/>
            <a:ext cx="14732000" cy="3302000"/>
          </a:xfrm>
          <a:prstGeom prst="roundRect">
            <a:avLst>
              <a:gd name="adj" fmla="val 6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55245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552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1651000" y="5461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de que un cliente realice una compra es 0.3. Si llegan 20 clientes, ¿cuál es la probabilidad de que exactamente 5 compren?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n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20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0.3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k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5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∼</m:t>
                      </m:r>
                      <m:r>
                        <a:rPr lang="en-US" sz="1800" i="1" dirty="0"/>
                        <m:t>B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n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20</m:t>
                      </m:r>
                      <m:r>
                        <a:rPr lang="en-US" sz="1800" dirty="0"/>
                        <m:t>,</m:t>
                      </m:r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0.3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5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(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20</m:t>
                          </m:r>
                        </m:num>
                        <m:den>
                          <m:r>
                            <a:rPr lang="en-US" sz="1300" dirty="0"/>
                            <m:t>5</m:t>
                          </m:r>
                        </m:den>
                      </m:f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0.3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)</m:t>
                          </m:r>
                        </m:e>
                        <m:sup>
                          <m:r>
                            <a:rPr lang="en-US" sz="1300" dirty="0"/>
                            <m:t>5</m:t>
                          </m:r>
                        </m:sup>
                      </m:sSup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0.7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)</m:t>
                          </m:r>
                        </m:e>
                        <m:sup>
                          <m:r>
                            <a:rPr lang="en-US" sz="1300" dirty="0"/>
                            <m:t>15</m:t>
                          </m:r>
                        </m:sup>
                      </m:sSup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15504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0.00243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0.00475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0.1789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17.89%</a:t>
                </a:r>
                <a:endParaRPr lang="en-US" sz="18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1651000" y="5461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de que un cliente realice una compra es 0.3. Si llegan 20 clientes, ¿cuál es la probabilidad de que exactamente 5 compren?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n = 20 )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 = 0.3 )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,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k = 5 )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\sim B(n=20, p=0.3) 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P(X=5) = \binom{20}{5} \cdot (0.3)^5 \cdot (0.7)^{15} = 15504 \cdot 0.00243 \cdot 0.00475 = 0.1789 )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17.89%</a:t>
                </a:r>
                <a:endParaRPr lang="en-US" sz="1800" dirty="0"/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/ 10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0"/>
          </a:xfrm>
          <a:prstGeom prst="straightConnector1">
            <a:avLst/>
          </a:prstGeom>
          <a:noFill/>
          <a:ln w="508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EJERCICIOS: DISTRIBUCIÓN DE POISSON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95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Parte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14732000" cy="3302000"/>
          </a:xfrm>
          <a:prstGeom prst="roundRect">
            <a:avLst>
              <a:gd name="adj" fmla="val 6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9685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6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651000" y="1905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En un centro de llamadas llegan en promedio 4 llamadas por minuto. ¿Cuál es la probabilidad de que en un minuto lleguen exactamente 2 llamadas?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λ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4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llamadas/minuto. Entonces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∼</m:t>
                      </m:r>
                      <m:r>
                        <a:rPr lang="en-US" sz="1800" dirty="0"/>
                        <m:t>Poisson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λ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4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sSupPr>
                              <m:ctrlPr>
                                <a:rPr lang="en-US" sz="900" dirty="0"/>
                              </m:ctrlPr>
                            </m:sSupPr>
                            <m:e>
                              <m:r>
                                <a:rPr lang="en-US" sz="900" i="1" dirty="0"/>
                                <m:t>e</m:t>
                              </m:r>
                            </m:e>
                            <m:sup>
                              <m:r>
                                <a:rPr lang="en-US" sz="900" dirty="0"/>
                                <m:t>−</m:t>
                              </m:r>
                              <m:r>
                                <a:rPr lang="en-US" sz="900" dirty="0"/>
                                <m:t>4</m:t>
                              </m:r>
                            </m:sup>
                          </m:sSup>
                          <m:r>
                            <a:rPr lang="en-US" sz="1300" dirty="0"/>
                            <m:t>⋅</m:t>
                          </m:r>
                          <m:sSup>
                            <m:sSupPr>
                              <m:ctrlPr>
                                <a:rPr lang="en-US" sz="900" dirty="0"/>
                              </m:ctrlPr>
                            </m:sSupPr>
                            <m:e>
                              <m:r>
                                <a:rPr lang="en-US" sz="900" dirty="0"/>
                                <m:t>4</m:t>
                              </m:r>
                            </m:e>
                            <m:sup>
                              <m:r>
                                <a:rPr lang="en-US" sz="900" dirty="0"/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300" dirty="0"/>
                            <m:t>2</m:t>
                          </m:r>
                          <m:r>
                            <a:rPr lang="en-US" sz="1300" dirty="0"/>
                            <m:t>!</m:t>
                          </m:r>
                        </m:den>
                      </m:f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0.0183</m:t>
                          </m:r>
                          <m:r>
                            <a:rPr lang="en-US" sz="1300" dirty="0"/>
                            <m:t>⋅</m:t>
                          </m:r>
                          <m:r>
                            <a:rPr lang="en-US" sz="1300" dirty="0"/>
                            <m:t>16</m:t>
                          </m:r>
                        </m:num>
                        <m:den>
                          <m:r>
                            <a:rPr lang="en-US" sz="1300" dirty="0"/>
                            <m:t>2</m:t>
                          </m:r>
                        </m:den>
                      </m:f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0.1464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14.64%</a:t>
                </a:r>
                <a:endParaRPr lang="en-US" sz="1800" dirty="0"/>
              </a:p>
            </p:txBody>
          </p:sp>
        </mc:Choice>
        <mc:Fallback xmlns="">
          <p:sp>
            <p:nvSpPr>
              <p:cNvPr id="8" name="Text 6"/>
              <p:cNvSpPr/>
              <p:nvPr/>
            </p:nvSpPr>
            <p:spPr>
              <a:xfrm>
                <a:off x="1651000" y="1905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En un centro de llamadas llegan en promedio 4 llamadas por minuto. ¿Cuál es la probabilidad de que en un minuto lleguen exactamente 2 llamadas?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\lambda = 4 )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llamadas/minuto. Entonces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\sim \text{Poisson}(\lambda = 4) 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P(X=2) = \frac{e^{-4} \cdot 4^2}{2!} = \frac{0.0183 \cdot 16}{2} = 0.1464 )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14.64%</a:t>
                </a:r>
                <a:endParaRPr lang="en-US" sz="1800" dirty="0"/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762000" y="5334000"/>
            <a:ext cx="14732000" cy="3302000"/>
          </a:xfrm>
          <a:prstGeom prst="roundRect">
            <a:avLst>
              <a:gd name="adj" fmla="val 6000"/>
            </a:avLst>
          </a:prstGeom>
          <a:solidFill>
            <a:srgbClr val="2D3436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5524500"/>
            <a:ext cx="457200" cy="457200"/>
          </a:xfrm>
          <a:prstGeom prst="ellipse">
            <a:avLst/>
          </a:prstGeom>
          <a:solidFill>
            <a:srgbClr val="E17055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552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1651000" y="5461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Un servidor recibe en promedio 3 solicitudes por segundo. ¿Cuál es la probabilidad de que en 2 segundos lleguen como máximo 4 solicitudes?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Para 2 segundos: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λ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3</m:t>
                      </m:r>
                      <m:r>
                        <a:rPr lang="en-US" sz="1800" dirty="0"/>
                        <m:t>×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6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∼</m:t>
                      </m:r>
                      <m:r>
                        <a:rPr lang="en-US" sz="1800" dirty="0"/>
                        <m:t>Poisson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λ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6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P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≤</m:t>
                      </m:r>
                      <m:r>
                        <a:rPr lang="en-US" sz="1800" dirty="0"/>
                        <m:t>4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=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k</m:t>
                          </m:r>
                          <m:r>
                            <a:rPr lang="en-US" sz="1300" dirty="0"/>
                            <m:t>=</m:t>
                          </m:r>
                          <m:r>
                            <a:rPr lang="en-US" sz="1300" dirty="0"/>
                            <m:t>0</m:t>
                          </m:r>
                        </m:sub>
                        <m:sup>
                          <m:r>
                            <a:rPr lang="en-US" sz="1300" dirty="0"/>
                            <m:t>4</m:t>
                          </m:r>
                        </m:sup>
                      </m:sSubSup>
                      <m:f>
                        <m:fPr>
                          <m:type m:val="bar"/>
                        </m:fPr>
                        <m:num>
                          <m:sSup>
                            <m:sSupPr>
                              <m:ctrlPr>
                                <a:rPr lang="en-US" sz="900" dirty="0"/>
                              </m:ctrlPr>
                            </m:sSupPr>
                            <m:e>
                              <m:r>
                                <a:rPr lang="en-US" sz="900" i="1" dirty="0"/>
                                <m:t>e</m:t>
                              </m:r>
                            </m:e>
                            <m:sup>
                              <m:r>
                                <a:rPr lang="en-US" sz="900" dirty="0"/>
                                <m:t>−</m:t>
                              </m:r>
                              <m:r>
                                <a:rPr lang="en-US" sz="900" dirty="0"/>
                                <m:t>6</m:t>
                              </m:r>
                            </m:sup>
                          </m:sSup>
                          <m:r>
                            <a:rPr lang="en-US" sz="1300" dirty="0"/>
                            <m:t>⋅</m:t>
                          </m:r>
                          <m:sSup>
                            <m:sSupPr>
                              <m:ctrlPr>
                                <a:rPr lang="en-US" sz="900" dirty="0"/>
                              </m:ctrlPr>
                            </m:sSupPr>
                            <m:e>
                              <m:r>
                                <a:rPr lang="en-US" sz="900" dirty="0"/>
                                <m:t>6</m:t>
                              </m:r>
                            </m:e>
                            <m:sup>
                              <m:r>
                                <a:rPr lang="en-US" sz="900" i="1" dirty="0"/>
                                <m:t>k</m:t>
                              </m:r>
                            </m:sup>
                          </m:sSup>
                        </m:num>
                        <m:den>
                          <m:r>
                            <a:rPr lang="en-US" sz="1300" i="1" dirty="0"/>
                            <m:t>k</m:t>
                          </m:r>
                          <m:r>
                            <a:rPr lang="en-US" sz="1300" dirty="0"/>
                            <m:t>!</m:t>
                          </m:r>
                        </m:den>
                      </m:f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0.0025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0.0149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0.0446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0.0892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0.1339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0.2851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28.51%</a:t>
                </a:r>
                <a:endParaRPr lang="en-US" sz="18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1651000" y="5461000"/>
                <a:ext cx="13589000" cy="29845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Enunciado: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Un servidor recibe en promedio 3 solicitudes por segundo. ¿Cuál es la probabilidad de que en 2 segundos lleguen como máximo 4 solicitudes?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Solución:</a:t>
                </a:r>
                <a:endParaRPr lang="en-US" sz="18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Para 2 segundos: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\lambda = 3 \times 2 = 6 )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Entonces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\sim \text{Poisson}(\lambda = 6) )</a:t>
                </a:r>
                <a:endParaRPr lang="en-US" sz="1800" dirty="0"/>
              </a:p>
              <a:p>
                <a:pPr algn="l"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P(X \leq 4) = \sum_{k=0}^{4} \frac{e^{-6} \cdot 6^k}{k!} = 0.0025 + 0.0149 + 0.0446 + 0.0892 + 0.1339 = 0.2851 )</a:t>
                </a:r>
                <a:endParaRPr lang="en-US" sz="1800" dirty="0"/>
              </a:p>
              <a:p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Respuesta: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dirty="0">
                    <a:solidFill>
                      <a:srgbClr val="2D3436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La probabilidad es </a:t>
                </a:r>
                <a:pPr>
                  <a:lnSpc>
                    <a:spcPct val="150000"/>
                  </a:lnSpc>
                  <a:spcBef>
                    <a:spcPts val="400"/>
                  </a:spcBef>
                </a:pPr>
                <a:r>
                  <a:rPr lang="en-US" sz="1800" b="1" dirty="0">
                    <a:solidFill>
                      <a:srgbClr val="E17055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28.51%</a:t>
                </a:r>
                <a:endParaRPr lang="en-US" sz="1800" dirty="0"/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10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0"/>
          </a:xfrm>
          <a:prstGeom prst="straightConnector1">
            <a:avLst/>
          </a:prstGeom>
          <a:noFill/>
          <a:ln w="381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2492098" y="3301409"/>
            <a:ext cx="11449220" cy="1270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¡MUCHAS GRACIAS!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5207000"/>
            <a:ext cx="2540000" cy="0"/>
          </a:xfrm>
          <a:prstGeom prst="straightConnector1">
            <a:avLst/>
          </a:prstGeom>
          <a:noFill/>
          <a:ln w="38100">
            <a:solidFill>
              <a:srgbClr val="E17055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3683000" y="5461665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Distribuciones de Probabilidad Discretas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Distribuciones de Probabilidad Discretas</dc:title>
  <dc:subject>Distribuciones de Probabilidad Discretas</dc:subject>
  <dc:creator>Kimi</dc:creator>
  <cp:lastModifiedBy>Kimi</cp:lastModifiedBy>
  <cp:revision>1</cp:revision>
  <dcterms:created xsi:type="dcterms:W3CDTF">2026-05-31T04:14:43Z</dcterms:created>
  <dcterms:modified xsi:type="dcterms:W3CDTF">2026-05-31T04:14:43Z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{"Label":"Distribuciones de Probabilidad Discretas","ContentProducer":"001191110108MACG2KBH8F10000","ProduceID":"19e7c3cb-b842-8f77-8000-00005af4e00b","ReservedCode1":"","ContentPropagator":"001191110108MACG2KBH8F20000","PropagateID":"19e7c3cb-b842-8f77-8000-00005af4e00b","ReservedCode2":""}</vt:lpwstr>
  </property>
</Properties>
</file>